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84632"/>
            <a:ext cx="18288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PROPOSAL: NEXT-GENERATION AGNOSTIC MARKETPLACE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1148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Agnostic Marketplace &amp; Last-Mile Infrastructure Platform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Retail Networks, Diaspora Shoppers, and Informal Traders Through Open Digital Architecture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30632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324612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364992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" y="359359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open-architecture, multi-tenant marketplace framework with TM Pick n Pay uniquely positioned as the primary anchor retail tenant and wholesale backbone driving the entire shared consumer ecosystem.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The Executive Leadership Team, TM Pick n Pay · Core Strategy: Open Marketplace Framework from Inception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320040"/>
            <a:ext cx="1426464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884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· STRATEGIC CONTEXT &amp; SYSTEM BOUNDARIES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29600" y="292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Agnostic Marketplace Infrastructure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Strategic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Strategic Outlook &amp; Framework Boundaries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Analysis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as an external macro-market framework with a limited understanding of internal, proprietary initiatives. Serves as an objective external valuation model.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Repositioning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an agile mechanism to optimize physical retail distribution, sales, and marketing — driving volume throughput across existing corporate assets.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Infrastructure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leverages established physical retail networks in key structured cities as anchor infrastructure through which optimization and last-mile logistics are executed.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320040"/>
            <a:ext cx="1426464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884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· THE MACRO REALITY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29600" y="292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Agnostic Marketplace Infrastructure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Strategic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and Structuring within an Informal Economy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Landscape Reality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economy has become highly informalized. While specific geographies remain structured enough for brick-and-mortar stores, traditional retail models face severe constraints.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Financial Shift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financial structures based on historical 'normalcy' is impossible; the market presents an abnormal P&amp;L environment demanding non-traditional revenue capture models.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Pivot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protecting a rigid, static balance sheet, corporate strategy must pivot off traditional normalcy to invest in operational adaptability. These digital infrastructure investments transform operational expenses directly into catalysts for sustainability.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320040"/>
            <a:ext cx="1426464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884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· CORE VALUE PROPOSITION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29600" y="292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Agnostic Marketplace Infrastructure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Strategic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the Systemic Retail Gap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" y="1463040"/>
            <a:ext cx="8321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4630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INTEGRATION: Closing a massive distribution gap by seamlessly integrating three distinct market vectors.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20116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17627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Closeness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27432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Re-establishing direct customer connection ('Know Your Customer'). Building digital visibility into household preferences, frequency, and spending triggers.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46120" y="20116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29000" y="217627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2900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Informal Market Participation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29000" y="27432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participating in the decentralized, high-volume informal retail traders market — converting tuck shops and informal vendors into wholesale extension nodes.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80760" y="20116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217627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Cross-Border Volumes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63640" y="27432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the massive corridor of people outside the country who actively fund and assist their families back home, routing foreign capital into local retail settlement.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320040"/>
            <a:ext cx="1426464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884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PLATFORM FOUNDATION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29600" y="292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Agnostic Marketplace Infrastructure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Strategic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Catalyst for Profitability, Sustainability, and Adaptability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Moat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informalized economy, not knowing, not following, or not incentivizing your customer is the single greatest risk—making active customer data tracking the ultimate competitive differentiator.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 Architecture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marketplace ecosystem is underpinned by a robust corporate data lake and AI-driven Intelligent Commerce — enabling predictive demand forecasting and dynamic pricing.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Outcome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acts as the direct operational engine that secures predictable, sustainable corporate margins and enables continuous adaptability to shifting consumer trends.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320040"/>
            <a:ext cx="1426464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884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· PLATFORM DESIGN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29600" y="292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Agnostic Marketplace Infrastructure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Strategic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Architecture vs. Application Silos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Agnostic Inception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day one as an open-ended, multi-tenant marketplace framework, explicitly rejecting single-retailer application restrictions and siloed architectures.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Connectivity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any vetted external retailer, boutique vendor, or third-party logistics provider via secure, high-throughput API integrations.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Segregation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massive market transaction volumes across the grid while preserving the capacity for anchor enterprise tenants to partition secure, white-labeled private spaces.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320040"/>
            <a:ext cx="1426464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884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· DISTRIBUTION STRATEGY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29600" y="292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Agnostic Marketplace Infrastructure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Strategic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Decentralized Footprint Expansion Without Capital Expense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 as Distributor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Repositions the anchor retailer to step in as the primary bulk wholesale distributor to independent informal retail networks, capturing previously unreachable transaction volumes.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Gray Market Displacement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Displaces un-policed cross-border gray trading, unmanaged tax leakage, and counterfeit products by feeding verified, high-quality corporate inventory straight into local communities.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Logistical Moats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affiliated informal local traders as decentralized localized distribution and collection nodes, bypassing brick-and-mortar expansion costs while increasing speed to door.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320040"/>
            <a:ext cx="1426464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884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· MARKET PROJECTIONS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29600" y="292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Agnostic Marketplace Infrastructure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Strategic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Data-Smart Pipeline Projections: Minimum Viable Business Case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" y="1554480"/>
            <a:ext cx="1929384" cy="1188720"/>
          </a:xfrm>
          <a:prstGeom prst="roundRect">
            <a:avLst>
              <a:gd name="adj" fmla="val 615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691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40,000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Target Families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23744" y="1554480"/>
            <a:ext cx="1929384" cy="1188720"/>
          </a:xfrm>
          <a:prstGeom prst="roundRect">
            <a:avLst>
              <a:gd name="adj" fmla="val 615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06624" y="1691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 / mo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06624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 Size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36008" y="1554480"/>
            <a:ext cx="1929384" cy="1188720"/>
          </a:xfrm>
          <a:prstGeom prst="roundRect">
            <a:avLst>
              <a:gd name="adj" fmla="val 615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18888" y="1691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$61.2M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818888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Valuation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48272" y="1554480"/>
            <a:ext cx="1929384" cy="1188720"/>
          </a:xfrm>
          <a:prstGeom prst="roundRect">
            <a:avLst>
              <a:gd name="adj" fmla="val 6154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1691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500k+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931152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Scaling Target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1480" y="2926080"/>
            <a:ext cx="8321040" cy="1645920"/>
          </a:xfrm>
          <a:prstGeom prst="roundRect">
            <a:avLst>
              <a:gd name="adj" fmla="val 5556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31546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BUSINESS CASE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34747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$61,200,000 ANNUAL PIPELINE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777240" y="4023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active cross-border and domestic families × $85/month average basket × 18 orders/year = $61.2 Million total transaction throughput migrated into a digital, tracked corporate retail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320040"/>
            <a:ext cx="1426464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884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0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· MONETIZATION STRATEGY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29600" y="292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Agnostic Marketplace Infrastructure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Strategic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Shifting From Transaction Margins to SaaS Stability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Preference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a Software-as-a-Service (SaaS) framework to secure predictable, monthly recurring income over standard hardware or code sales.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Visibility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long-term corporate enterprise value with commercial contract structures modeled on 5 to 10-year horizons (120 months).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Layers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multi-tier subscription options across the Logistics Network Access tier, Trader Optimization Tier, and Data Lake Intelligence Streams sold back to major FMCG manufacturers.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320040"/>
            <a:ext cx="1426464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8840" y="292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· OPERATIONAL ROADMAP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29600" y="292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Pick n Pay Express — Agnostic Marketplace Infrastructure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60520" y="47320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Strategic Proposal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Sprints to Deployment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01: Executive Agreement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alignment on the overarching agnostic marketplace architecture ('Takealot for the continent') to maximize ecosystem valuation and define commercial mandates.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D0103A"/>
          </a:solidFill>
          <a:ln w="12700">
            <a:solidFill>
              <a:srgbClr val="D010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02: Field Mapping Sprints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field discovery groups to assess inventory capacity and merchant densification across target structured pilot hubs (e.g., Harare and Bulawayo).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14630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426F"/>
          </a:solidFill>
          <a:ln w="12700">
            <a:solidFill>
              <a:srgbClr val="1E426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1627632"/>
            <a:ext cx="411480" cy="50292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03: API Blueprinting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945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security parameters, token controls, and performance metrics for anchor corporate data integrations and multi-tenant access protocols.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2026-09-07T11:42:40Z</dcterms:created>
  <dcterms:modified xsi:type="dcterms:W3CDTF">2026-09-07T11:42:40Z</dcterms:modified>
</cp:coreProperties>
</file>